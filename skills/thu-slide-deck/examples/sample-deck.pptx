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600">
        <a:latin typeface="微软雅黑"/>
        <a:ea typeface="微软雅黑"/>
      </a:defRPr>
    </a:lvl1pPr>
  </p:notesStyle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486400" cy="3086100"/>
          </a:xfrm>
        </p:spPr>
        <p:txBody>
          <a:bodyPr/>
          <a:lstStyle/>
          <a:p>
            <a:endParaRPr lang="zh-CN"/>
          </a:p>
        </p:txBody>
      </p:sp>
      <p:sp>
        <p:nvSpPr>
          <p:cNvPr id="3" name="备注"/>
          <p:cNvSpPr>
            <a:spLocks noGrp="1"/>
          </p:cNvSpPr>
          <p:nvPr>
            <p:ph type="body" idx="1"/>
          </p:nvPr>
        </p:nvSpPr>
        <p:spPr>
          <a:xfrm>
            <a:off x="685800" y="4114800"/>
            <a:ext cx="5486400" cy="4343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开场先抛痛点：大家以为 RAG 万能，但多跳问题一上就不行。</a:t>
            </a:r>
          </a:p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举一个真实例子："A 的导师的博士生是谁"——向量检索只能拿到一跳。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486400" cy="3086100"/>
          </a:xfrm>
        </p:spPr>
        <p:txBody>
          <a:bodyPr/>
          <a:lstStyle/>
          <a:p>
            <a:endParaRPr lang="zh-CN"/>
          </a:p>
        </p:txBody>
      </p:sp>
      <p:sp>
        <p:nvSpPr>
          <p:cNvPr id="3" name="备注"/>
          <p:cNvSpPr>
            <a:spLocks noGrp="1"/>
          </p:cNvSpPr>
          <p:nvPr>
            <p:ph type="body" idx="1"/>
          </p:nvPr>
        </p:nvSpPr>
        <p:spPr>
          <a:xfrm>
            <a:off x="685800" y="4114800"/>
            <a:ext cx="5486400" cy="4343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这一页讲方法核心：把"检索"换成"走路径"。</a:t>
            </a:r>
          </a:p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强调可追溯性——答案错了能定位到哪一步错，这是 RAG 做不到的。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486400" cy="3086100"/>
          </a:xfrm>
        </p:spPr>
        <p:txBody>
          <a:bodyPr/>
          <a:lstStyle/>
          <a:p>
            <a:endParaRPr lang="zh-CN"/>
          </a:p>
        </p:txBody>
      </p:sp>
      <p:sp>
        <p:nvSpPr>
          <p:cNvPr id="3" name="备注"/>
          <p:cNvSpPr>
            <a:spLocks noGrp="1"/>
          </p:cNvSpPr>
          <p:nvPr>
            <p:ph type="body" idx="1"/>
          </p:nvPr>
        </p:nvSpPr>
        <p:spPr>
          <a:xfrm>
            <a:off x="685800" y="4114800"/>
            <a:ext cx="5486400" cy="4343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对比页不要逐行念，让中缝两边的差异自己说话。</a:t>
            </a:r>
          </a:p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只点一句：左边是"像"，右边是"对"——匹配像的文本，和走出对的路径，是两回事。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486400" cy="3086100"/>
          </a:xfrm>
        </p:spPr>
        <p:txBody>
          <a:bodyPr/>
          <a:lstStyle/>
          <a:p>
            <a:endParaRPr lang="zh-CN"/>
          </a:p>
        </p:txBody>
      </p:sp>
      <p:sp>
        <p:nvSpPr>
          <p:cNvPr id="3" name="备注"/>
          <p:cNvSpPr>
            <a:spLocks noGrp="1"/>
          </p:cNvSpPr>
          <p:nvPr>
            <p:ph type="body" idx="1"/>
          </p:nvPr>
        </p:nvSpPr>
        <p:spPr>
          <a:xfrm>
            <a:off x="685800" y="4114800"/>
            <a:ext cx="5486400" cy="4343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先抛结果再解释公平性：同样的大模型、同样的语料，唯一变量是检索方式。</a:t>
            </a:r>
          </a:p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预料会被问"为什么基线这么低"——回答方向：多跳问题本身就是 RAG 的已知短板。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486400" cy="3086100"/>
          </a:xfrm>
        </p:spPr>
        <p:txBody>
          <a:bodyPr/>
          <a:lstStyle/>
          <a:p>
            <a:endParaRPr lang="zh-CN"/>
          </a:p>
        </p:txBody>
      </p:sp>
      <p:sp>
        <p:nvSpPr>
          <p:cNvPr id="3" name="备注"/>
          <p:cNvSpPr>
            <a:spLocks noGrp="1"/>
          </p:cNvSpPr>
          <p:nvPr>
            <p:ph type="body" idx="1"/>
          </p:nvPr>
        </p:nvSpPr>
        <p:spPr>
          <a:xfrm>
            <a:off x="685800" y="4114800"/>
            <a:ext cx="5486400" cy="4343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强调页不停留，说完就走：这是我们和所有黑箱方案的本质区别。</a:t>
            </a:r>
          </a:p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用一个具体 case 演示路径长什么样，30 秒讲完翻页。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486400" cy="3086100"/>
          </a:xfrm>
        </p:spPr>
        <p:txBody>
          <a:bodyPr/>
          <a:lstStyle/>
          <a:p>
            <a:endParaRPr lang="zh-CN"/>
          </a:p>
        </p:txBody>
      </p:sp>
      <p:sp>
        <p:nvSpPr>
          <p:cNvPr id="3" name="备注"/>
          <p:cNvSpPr>
            <a:spLocks noGrp="1"/>
          </p:cNvSpPr>
          <p:nvPr>
            <p:ph type="body" idx="1"/>
          </p:nvPr>
        </p:nvSpPr>
        <p:spPr>
          <a:xfrm>
            <a:off x="685800" y="4114800"/>
            <a:ext cx="5486400" cy="4343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主动暴露弱点是组会的本分，别等被问。</a:t>
            </a:r>
          </a:p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下一步计划顺带引出，自然过渡到最后一张内容页。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486400" cy="3086100"/>
          </a:xfrm>
        </p:spPr>
        <p:txBody>
          <a:bodyPr/>
          <a:lstStyle/>
          <a:p>
            <a:endParaRPr lang="zh-CN"/>
          </a:p>
        </p:txBody>
      </p:sp>
      <p:sp>
        <p:nvSpPr>
          <p:cNvPr id="3" name="备注"/>
          <p:cNvSpPr>
            <a:spLocks noGrp="1"/>
          </p:cNvSpPr>
          <p:nvPr>
            <p:ph type="body" idx="1"/>
          </p:nvPr>
        </p:nvSpPr>
        <p:spPr>
          <a:xfrm>
            <a:off x="685800" y="4114800"/>
            <a:ext cx="5486400" cy="4343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收尾给导师一个明确的里程碑：明年 2 月投稿 AAAI。</a:t>
            </a:r>
          </a:p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需要的支持：标注人力 20 小时——组会上直接提需求。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486400" cy="3086100"/>
          </a:xfrm>
        </p:spPr>
        <p:txBody>
          <a:bodyPr/>
          <a:lstStyle/>
          <a:p>
            <a:endParaRPr lang="zh-CN"/>
          </a:p>
        </p:txBody>
      </p:sp>
      <p:sp>
        <p:nvSpPr>
          <p:cNvPr id="3" name="备注"/>
          <p:cNvSpPr>
            <a:spLocks noGrp="1"/>
          </p:cNvSpPr>
          <p:nvPr>
            <p:ph type="body" idx="1"/>
          </p:nvPr>
        </p:nvSpPr>
        <p:spPr>
          <a:xfrm>
            <a:off x="685800" y="4114800"/>
            <a:ext cx="5486400" cy="4343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lang="zh-CN" sz="1600">
                <a:solidFill>
                  <a:srgbClr val="333333"/>
                </a:solidFill>
                <a:latin typeface="微软雅黑"/>
                <a:ea typeface="微软雅黑"/>
              </a:rPr>
              <a:t xml:space="preserve">结尾页三条 takeaway 复述一遍主线，然后停住，把时间让给提问。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914400" y="2300000"/>
            <a:ext cx="10363200" cy="1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zh-CN" sz="4000" b="1">
                <a:solidFill>
                  <a:srgbClr val="FFFFFF"/>
                </a:solidFill>
                <a:latin typeface="微软雅黑"/>
                <a:ea typeface="微软雅黑"/>
              </a:rPr>
              <a:t xml:space="preserve">知识图谱让多跳问答更可靠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720000"/>
            <a:ext cx="103632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zh-CN" sz="1800">
                <a:solidFill>
                  <a:srgbClr val="F3EEF7"/>
                </a:solidFill>
                <a:latin typeface="微软雅黑"/>
                <a:ea typeface="微软雅黑"/>
              </a:rPr>
              <a:t xml:space="preserve">2025-2026 秋季学期组会汇报</a:t>
            </a:r>
          </a:p>
        </p:txBody>
      </p:sp>
      <p:sp>
        <p:nvSpPr>
          <p:cNvPr id="5" name="author"/>
          <p:cNvSpPr txBox="1"/>
          <p:nvPr/>
        </p:nvSpPr>
        <p:spPr>
          <a:xfrm>
            <a:off x="914400" y="4780000"/>
            <a:ext cx="103632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zh-CN" sz="1400">
                <a:solidFill>
                  <a:srgbClr val="C29BCF"/>
                </a:solidFill>
                <a:latin typeface="微软雅黑"/>
                <a:ea typeface="微软雅黑"/>
              </a:rPr>
              <a:t xml:space="preserve">张三 · 知识工程实验室</a:t>
            </a:r>
          </a:p>
        </p:txBody>
      </p:sp>
      <p:sp>
        <p:nvSpPr>
          <p:cNvPr id="6" name="date"/>
          <p:cNvSpPr txBox="1"/>
          <p:nvPr/>
        </p:nvSpPr>
        <p:spPr>
          <a:xfrm>
            <a:off x="914400" y="5240000"/>
            <a:ext cx="103632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zh-CN" sz="1400">
                <a:solidFill>
                  <a:srgbClr val="C29BCF"/>
                </a:solidFill>
                <a:latin typeface="微软雅黑"/>
                <a:ea typeface="微软雅黑"/>
              </a:rPr>
              <a:t xml:space="preserve"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12192000" cy="89154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600000" y="0"/>
            <a:ext cx="10992000" cy="8915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2800" b="1">
                <a:solidFill>
                  <a:srgbClr val="FFFFFF"/>
                </a:solidFill>
                <a:latin typeface="微软雅黑"/>
                <a:ea typeface="微软雅黑"/>
              </a:rPr>
              <a:t xml:space="preserve">纯向量检索在多跳问题上准确率不足 60%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00000" y="1291540"/>
            <a:ext cx="10792000" cy="48664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基线：大模型 + 向量检索（RAG）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多跳问题：需串联 2 个以上事实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症结：检索碎片化，推理链断裂</a:t>
            </a:r>
          </a:p>
        </p:txBody>
      </p:sp>
      <p:sp>
        <p:nvSpPr>
          <p:cNvPr id="5" name="rule"/>
          <p:cNvSpPr txBox="1"/>
          <p:nvPr/>
        </p:nvSpPr>
        <p:spPr>
          <a:xfrm>
            <a:off x="600000" y="6388000"/>
            <a:ext cx="10992000" cy="19050"/>
          </a:xfrm>
          <a:prstGeom prst="rect">
            <a:avLst/>
          </a:prstGeom>
          <a:solidFill>
            <a:srgbClr val="D9D9D9"/>
          </a:solidFill>
        </p:spPr>
        <p:txBody>
          <a:bodyPr wrap="square" anchor="t"/>
          <a:lstStyle/>
        </p:txBody>
      </p:sp>
      <p:sp>
        <p:nvSpPr>
          <p:cNvPr id="6" name="footer"/>
          <p:cNvSpPr txBox="1"/>
          <p:nvPr/>
        </p:nvSpPr>
        <p:spPr>
          <a:xfrm>
            <a:off x="600000" y="6438000"/>
            <a:ext cx="3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清华大学</a:t>
            </a:r>
          </a:p>
        </p:txBody>
      </p:sp>
      <p:sp>
        <p:nvSpPr>
          <p:cNvPr id="7" name="pagenum"/>
          <p:cNvSpPr txBox="1"/>
          <p:nvPr/>
        </p:nvSpPr>
        <p:spPr>
          <a:xfrm>
            <a:off x="10592000" y="643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1000000" y="2750000"/>
            <a:ext cx="10192000" cy="1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4000" b="1">
                <a:solidFill>
                  <a:srgbClr val="FFFFFF"/>
                </a:solidFill>
                <a:latin typeface="微软雅黑"/>
                <a:ea typeface="微软雅黑"/>
              </a:rPr>
              <a:t xml:space="preserve">我们的方法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12192000" cy="89154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600000" y="0"/>
            <a:ext cx="10992000" cy="8915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2800" b="1">
                <a:solidFill>
                  <a:srgbClr val="FFFFFF"/>
                </a:solidFill>
                <a:latin typeface="微软雅黑"/>
                <a:ea typeface="微软雅黑"/>
              </a:rPr>
              <a:t xml:space="preserve">知识图谱把推理链变成图上的一条路径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00000" y="1291540"/>
            <a:ext cx="10792000" cy="48664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问题 → 实体链接 → 图查询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路径即推理过程，可追溯</a:t>
            </a:r>
          </a:p>
          <a:p>
            <a:pPr algn="l" marL="742950" indent="-228600">
              <a:buClr>
                <a:srgbClr val="808080"/>
              </a:buClr>
              <a:buFont typeface="Arial"/>
              <a:buChar char="–"/>
              <a:spcBef>
                <a:spcPts val="800"/>
              </a:spcBef>
            </a:pPr>
            <a:r>
              <a:rPr lang="zh-CN" sz="1600">
                <a:solidFill>
                  <a:srgbClr val="666666"/>
                </a:solidFill>
                <a:latin typeface="微软雅黑"/>
                <a:ea typeface="微软雅黑"/>
              </a:rPr>
              <a:t xml:space="preserve">每一步对应一条三元组</a:t>
            </a:r>
          </a:p>
        </p:txBody>
      </p:sp>
      <p:sp>
        <p:nvSpPr>
          <p:cNvPr id="5" name="rule"/>
          <p:cNvSpPr txBox="1"/>
          <p:nvPr/>
        </p:nvSpPr>
        <p:spPr>
          <a:xfrm>
            <a:off x="600000" y="6388000"/>
            <a:ext cx="10992000" cy="19050"/>
          </a:xfrm>
          <a:prstGeom prst="rect">
            <a:avLst/>
          </a:prstGeom>
          <a:solidFill>
            <a:srgbClr val="D9D9D9"/>
          </a:solidFill>
        </p:spPr>
        <p:txBody>
          <a:bodyPr wrap="square" anchor="t"/>
          <a:lstStyle/>
        </p:txBody>
      </p:sp>
      <p:sp>
        <p:nvSpPr>
          <p:cNvPr id="6" name="footer"/>
          <p:cNvSpPr txBox="1"/>
          <p:nvPr/>
        </p:nvSpPr>
        <p:spPr>
          <a:xfrm>
            <a:off x="600000" y="6438000"/>
            <a:ext cx="3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清华大学</a:t>
            </a:r>
          </a:p>
        </p:txBody>
      </p:sp>
      <p:sp>
        <p:nvSpPr>
          <p:cNvPr id="7" name="pagenum"/>
          <p:cNvSpPr txBox="1"/>
          <p:nvPr/>
        </p:nvSpPr>
        <p:spPr>
          <a:xfrm>
            <a:off x="10592000" y="643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12192000" cy="130302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600000" y="0"/>
            <a:ext cx="10992000" cy="13030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 xml:space="preserve">对比：从"匹配文本"到"走路径"，检索范式换了一代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00000" y="1703020"/>
            <a:ext cx="10792000" cy="44549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检索到的是碎文本片段 | 检索出的是完整推理路径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推理过程不可追溯 | 每一步对应一条三元组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答案错了无从定位 | 错了能定位到具体哪一跳</a:t>
            </a:r>
          </a:p>
        </p:txBody>
      </p:sp>
      <p:sp>
        <p:nvSpPr>
          <p:cNvPr id="5" name="rule"/>
          <p:cNvSpPr txBox="1"/>
          <p:nvPr/>
        </p:nvSpPr>
        <p:spPr>
          <a:xfrm>
            <a:off x="600000" y="6388000"/>
            <a:ext cx="10992000" cy="19050"/>
          </a:xfrm>
          <a:prstGeom prst="rect">
            <a:avLst/>
          </a:prstGeom>
          <a:solidFill>
            <a:srgbClr val="D9D9D9"/>
          </a:solidFill>
        </p:spPr>
        <p:txBody>
          <a:bodyPr wrap="square" anchor="t"/>
          <a:lstStyle/>
        </p:txBody>
      </p:sp>
      <p:sp>
        <p:nvSpPr>
          <p:cNvPr id="6" name="footer"/>
          <p:cNvSpPr txBox="1"/>
          <p:nvPr/>
        </p:nvSpPr>
        <p:spPr>
          <a:xfrm>
            <a:off x="600000" y="6438000"/>
            <a:ext cx="3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清华大学</a:t>
            </a:r>
          </a:p>
        </p:txBody>
      </p:sp>
      <p:sp>
        <p:nvSpPr>
          <p:cNvPr id="7" name="pagenum"/>
          <p:cNvSpPr txBox="1"/>
          <p:nvPr/>
        </p:nvSpPr>
        <p:spPr>
          <a:xfrm>
            <a:off x="10592000" y="643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1000000" y="2750000"/>
            <a:ext cx="10192000" cy="1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4000" b="1">
                <a:solidFill>
                  <a:srgbClr val="FFFFFF"/>
                </a:solidFill>
                <a:latin typeface="微软雅黑"/>
                <a:ea typeface="微软雅黑"/>
              </a:rPr>
              <a:t xml:space="preserve">实验结果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12192000" cy="130302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600000" y="0"/>
            <a:ext cx="10992000" cy="13030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 xml:space="preserve">数据：多跳问答准确率从 58% 提升到 78.5%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00000" y="1703020"/>
            <a:ext cx="10792000" cy="44549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78.5% | 多跳问答准确率 | 较基线 +20.5pt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58.0% | 纯向量检索基线 | CCKS2022 KGQA 评测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90.2% | 单跳问题准确率 | 多跳才是拉开差距的战场</a:t>
            </a:r>
          </a:p>
        </p:txBody>
      </p:sp>
      <p:sp>
        <p:nvSpPr>
          <p:cNvPr id="5" name="rule"/>
          <p:cNvSpPr txBox="1"/>
          <p:nvPr/>
        </p:nvSpPr>
        <p:spPr>
          <a:xfrm>
            <a:off x="600000" y="6388000"/>
            <a:ext cx="10992000" cy="19050"/>
          </a:xfrm>
          <a:prstGeom prst="rect">
            <a:avLst/>
          </a:prstGeom>
          <a:solidFill>
            <a:srgbClr val="D9D9D9"/>
          </a:solidFill>
        </p:spPr>
        <p:txBody>
          <a:bodyPr wrap="square" anchor="t"/>
          <a:lstStyle/>
        </p:txBody>
      </p:sp>
      <p:sp>
        <p:nvSpPr>
          <p:cNvPr id="6" name="footer"/>
          <p:cNvSpPr txBox="1"/>
          <p:nvPr/>
        </p:nvSpPr>
        <p:spPr>
          <a:xfrm>
            <a:off x="600000" y="6438000"/>
            <a:ext cx="3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清华大学</a:t>
            </a:r>
          </a:p>
        </p:txBody>
      </p:sp>
      <p:sp>
        <p:nvSpPr>
          <p:cNvPr id="7" name="pagenum"/>
          <p:cNvSpPr txBox="1"/>
          <p:nvPr/>
        </p:nvSpPr>
        <p:spPr>
          <a:xfrm>
            <a:off x="10592000" y="643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ext"/>
          <p:cNvSpPr txBox="1"/>
          <p:nvPr/>
        </p:nvSpPr>
        <p:spPr>
          <a:xfrm>
            <a:off x="914400" y="2400000"/>
            <a:ext cx="10363200" cy="2000000"/>
          </a:xfrm>
          <a:prstGeom prst="rect">
            <a:avLst/>
          </a:prstGeom>
          <a:solidFill>
            <a:srgbClr val="660874"/>
          </a:solidFill>
        </p:spPr>
        <p:txBody>
          <a:bodyPr wrap="square" anchor="ctr"/>
          <a:lstStyle/>
          <a:p>
            <a:pPr algn="ctr">
              <a:buNone/>
            </a:pPr>
            <a:r>
              <a:rPr lang="zh-CN" sz="5400" b="1">
                <a:solidFill>
                  <a:srgbClr val="FFFFFF"/>
                </a:solidFill>
                <a:latin typeface="微软雅黑"/>
                <a:ea typeface="微软雅黑"/>
              </a:rPr>
              <a:t xml:space="preserve">推理路径是可解释的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12192000" cy="89154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600000" y="0"/>
            <a:ext cx="10992000" cy="8915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2800" b="1">
                <a:solidFill>
                  <a:srgbClr val="FFFFFF"/>
                </a:solidFill>
                <a:latin typeface="微软雅黑"/>
                <a:ea typeface="微软雅黑"/>
              </a:rPr>
              <a:t xml:space="preserve">错误主要来自实体链接歧义，占 40%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00000" y="1291540"/>
            <a:ext cx="10792000" cy="48664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同名实体：地名 vs 人名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计划：引入上下文消歧模块</a:t>
            </a:r>
          </a:p>
        </p:txBody>
      </p:sp>
      <p:sp>
        <p:nvSpPr>
          <p:cNvPr id="5" name="rule"/>
          <p:cNvSpPr txBox="1"/>
          <p:nvPr/>
        </p:nvSpPr>
        <p:spPr>
          <a:xfrm>
            <a:off x="600000" y="6388000"/>
            <a:ext cx="10992000" cy="19050"/>
          </a:xfrm>
          <a:prstGeom prst="rect">
            <a:avLst/>
          </a:prstGeom>
          <a:solidFill>
            <a:srgbClr val="D9D9D9"/>
          </a:solidFill>
        </p:spPr>
        <p:txBody>
          <a:bodyPr wrap="square" anchor="t"/>
          <a:lstStyle/>
        </p:txBody>
      </p:sp>
      <p:sp>
        <p:nvSpPr>
          <p:cNvPr id="6" name="footer"/>
          <p:cNvSpPr txBox="1"/>
          <p:nvPr/>
        </p:nvSpPr>
        <p:spPr>
          <a:xfrm>
            <a:off x="600000" y="6438000"/>
            <a:ext cx="3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清华大学</a:t>
            </a:r>
          </a:p>
        </p:txBody>
      </p:sp>
      <p:sp>
        <p:nvSpPr>
          <p:cNvPr id="7" name="pagenum"/>
          <p:cNvSpPr txBox="1"/>
          <p:nvPr/>
        </p:nvSpPr>
        <p:spPr>
          <a:xfrm>
            <a:off x="10592000" y="643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1000000" y="2750000"/>
            <a:ext cx="10192000" cy="1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4000" b="1">
                <a:solidFill>
                  <a:srgbClr val="FFFFFF"/>
                </a:solidFill>
                <a:latin typeface="微软雅黑"/>
                <a:ea typeface="微软雅黑"/>
              </a:rPr>
              <a:t xml:space="preserve">下一步工作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12192000" cy="130302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600000" y="0"/>
            <a:ext cx="10992000" cy="13030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 xml:space="preserve">下一步：大模型辅助查询改写，目标 AAAI 2027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00000" y="1703020"/>
            <a:ext cx="10792000" cy="44549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查询改写：自然语言 → 图查询</a:t>
            </a:r>
          </a:p>
          <a:p>
            <a:pPr algn="l" marL="342900" indent="-342900">
              <a:buClr>
                <a:srgbClr val="660874"/>
              </a:buClr>
              <a:buFont typeface="Arial"/>
              <a:buChar char="■"/>
              <a:spcBef>
                <a:spcPts val="800"/>
              </a:spcBef>
            </a:pPr>
            <a:r>
              <a:rPr lang="zh-CN" sz="1800">
                <a:solidFill>
                  <a:srgbClr val="333333"/>
                </a:solidFill>
                <a:latin typeface="微软雅黑"/>
                <a:ea typeface="微软雅黑"/>
              </a:rPr>
              <a:t xml:space="preserve">扩展：时序图谱、多模态知识</a:t>
            </a:r>
          </a:p>
        </p:txBody>
      </p:sp>
      <p:sp>
        <p:nvSpPr>
          <p:cNvPr id="5" name="rule"/>
          <p:cNvSpPr txBox="1"/>
          <p:nvPr/>
        </p:nvSpPr>
        <p:spPr>
          <a:xfrm>
            <a:off x="600000" y="6388000"/>
            <a:ext cx="10992000" cy="19050"/>
          </a:xfrm>
          <a:prstGeom prst="rect">
            <a:avLst/>
          </a:prstGeom>
          <a:solidFill>
            <a:srgbClr val="D9D9D9"/>
          </a:solidFill>
        </p:spPr>
        <p:txBody>
          <a:bodyPr wrap="square" anchor="t"/>
          <a:lstStyle/>
        </p:txBody>
      </p:sp>
      <p:sp>
        <p:nvSpPr>
          <p:cNvPr id="6" name="footer"/>
          <p:cNvSpPr txBox="1"/>
          <p:nvPr/>
        </p:nvSpPr>
        <p:spPr>
          <a:xfrm>
            <a:off x="600000" y="6438000"/>
            <a:ext cx="3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清华大学</a:t>
            </a:r>
          </a:p>
        </p:txBody>
      </p:sp>
      <p:sp>
        <p:nvSpPr>
          <p:cNvPr id="7" name="pagenum"/>
          <p:cNvSpPr txBox="1"/>
          <p:nvPr/>
        </p:nvSpPr>
        <p:spPr>
          <a:xfrm>
            <a:off x="10592000" y="6438000"/>
            <a:ext cx="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buNone/>
            </a:pPr>
            <a:r>
              <a:rPr lang="zh-CN" sz="1050">
                <a:solidFill>
                  <a:srgbClr val="808080"/>
                </a:solidFill>
                <a:latin typeface="微软雅黑"/>
                <a:ea typeface="微软雅黑"/>
              </a:rPr>
              <a:t xml:space="preserve"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0874"/>
          </a:solidFill>
        </p:spPr>
        <p:txBody>
          <a:bodyPr wrap="square" anchor="t"/>
          <a:lstStyle/>
        </p:txBody>
      </p:sp>
      <p:sp>
        <p:nvSpPr>
          <p:cNvPr id="3" name="title"/>
          <p:cNvSpPr txBox="1"/>
          <p:nvPr/>
        </p:nvSpPr>
        <p:spPr>
          <a:xfrm>
            <a:off x="914400" y="2600000"/>
            <a:ext cx="10363200" cy="1600000"/>
          </a:xfrm>
          <a:prstGeom prst="rect">
            <a:avLst/>
          </a:prstGeom>
          <a:solidFill>
            <a:srgbClr val="660874"/>
          </a:solidFill>
        </p:spPr>
        <p:txBody>
          <a:bodyPr wrap="square" anchor="ctr"/>
          <a:lstStyle/>
          <a:p>
            <a:pPr algn="ctr">
              <a:buNone/>
            </a:pPr>
            <a:r>
              <a:rPr lang="zh-CN" sz="4400" b="1">
                <a:solidFill>
                  <a:srgbClr val="FFFFFF"/>
                </a:solidFill>
                <a:latin typeface="微软雅黑"/>
                <a:ea typeface="微软雅黑"/>
              </a:rPr>
              <a:t xml:space="preserve">谢谢聆听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U">
  <a:themeElements>
    <a:clrScheme name="THU">
      <a:dk1>
        <a:srgbClr val="000000"/>
      </a:dk1>
      <a:lt1>
        <a:srgbClr val="FFFFFF"/>
      </a:lt1>
      <a:dk2>
        <a:srgbClr val="333333"/>
      </a:dk2>
      <a:lt2>
        <a:srgbClr val="F3EEF7"/>
      </a:lt2>
      <a:accent1>
        <a:srgbClr val="660874"/>
      </a:accent1>
      <a:accent2>
        <a:srgbClr val="9E4AAD"/>
      </a:accent2>
      <a:accent3>
        <a:srgbClr val="C29BCF"/>
      </a:accent3>
      <a:accent4>
        <a:srgbClr val="808080"/>
      </a:accent4>
      <a:accent5>
        <a:srgbClr val="4A4A4A"/>
      </a:accent5>
      <a:accent6>
        <a:srgbClr val="D9D9D9"/>
      </a:accent6>
      <a:hlink>
        <a:srgbClr val="660874"/>
      </a:hlink>
      <a:folHlink>
        <a:srgbClr val="9E4AAD"/>
      </a:folHlink>
    </a:clrScheme>
    <a:fontScheme name="THU">
      <a:majorFont>
        <a:latin typeface="微软雅黑"/>
        <a:ea typeface="微软雅黑"/>
        <a:font script="Hans" typeface="微软雅黑"/>
      </a:majorFont>
      <a:minorFont>
        <a:latin typeface="微软雅黑"/>
        <a:ea typeface="微软雅黑"/>
        <a:font script="Hans" typeface="微软雅黑"/>
      </a:minorFont>
    </a:fontScheme>
    <a:fmtScheme name="THU">
      <a: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